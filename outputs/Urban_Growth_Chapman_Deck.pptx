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56032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9214"/>
                </a:solidFill>
              </a:rPr>
              <a:t>CHAPMAN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0B0"/>
                </a:solidFill>
              </a:rPr>
              <a:t>ARGYROS COLLEGE OF BUSINESS AND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Urban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C69214"/>
                </a:solidFill>
              </a:rPr>
              <a:t>Real Estate Portfolio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697480"/>
            <a:ext cx="11274552" cy="0"/>
          </a:xfrm>
          <a:prstGeom prst="line">
            <a:avLst/>
          </a:prstGeom>
          <a:ln w="19050">
            <a:solidFill>
              <a:srgbClr val="C692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AI-Scored Vacant Land Identification  |  Ground-Up Development  |  Phoenix &amp; Austin MSA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Build-to-Rent &amp; Build-to-Sell  |  65% LTV Construction + Perm Loan Refi  |  Gap-Corrected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2103120" cy="10058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20624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D2235"/>
                </a:solidFill>
              </a:rPr>
              <a:t>$29.7M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727448"/>
            <a:ext cx="1956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</a:rPr>
              <a:t>10-yr Portfolio NAV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8064" y="4160520"/>
            <a:ext cx="2103120" cy="10058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420624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D2235"/>
                </a:solidFill>
              </a:rPr>
              <a:t>14.3%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4727448"/>
            <a:ext cx="1956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</a:rPr>
              <a:t>Median BTR IRR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8" y="4160520"/>
            <a:ext cx="2103120" cy="10058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20624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D2235"/>
                </a:solidFill>
              </a:rPr>
              <a:t>14.1%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727448"/>
            <a:ext cx="1956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</a:rPr>
              <a:t>BTS IRR (PHX)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9792" y="4160520"/>
            <a:ext cx="2103120" cy="10058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420624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D2235"/>
                </a:solidFill>
              </a:rPr>
              <a:t>2.1×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4727448"/>
            <a:ext cx="1956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</a:rPr>
              <a:t>Equity Multiple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0656" y="4160520"/>
            <a:ext cx="2103120" cy="10058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420624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D2235"/>
                </a:solidFill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4727448"/>
            <a:ext cx="1956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</a:rPr>
              <a:t>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4A4A4A"/>
                </a:solidFill>
              </a:rPr>
              <a:t>May 2026  |  Confidential — For Discussion Purposes Only  |  Not Investment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Gap-corrected model  |  Phoenix &amp; Austin MSA  |  $10M starting equity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</a:rPr>
              <a:t>The Urban Growth platform combines an AI-based land-opportunity scorer with a rigorous development finance model to identify, underwrite, and simulate a portfolio of ground-up multifamily projects in high-growth Sun Belt markets.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486400" cy="42062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2235"/>
                </a:solidFill>
              </a:rPr>
              <a:t>Strategy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</a:rPr>
              <a:t>•  Identify: AI scores 211-acre H3 cells by development probability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254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</a:rPr>
              <a:t>•  Underwrite: validated Phoenix/Austin market data (rents, costs, caps)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278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</a:rPr>
              <a:t>•  Finance: 65% LTV construction loan (8.5%) → refi to perm (6.0%)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301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</a:rPr>
              <a:t>•  Exit A — Build-to-Rent: hold 5 yrs, sell at stabilised cap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325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</a:rPr>
              <a:t>•  Exit B — Build-to-Sell: Phoenix top lots sell at CO+lease-up (~23 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</a:rPr>
              <a:t>•  Portfolio: deploy $10M equity across 17 projects over 10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371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</a:rPr>
              <a:t>•  Reinvest: BTS proceeds recycled into new projects every 2 yrs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5486400" cy="42062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2235"/>
                </a:solidFill>
              </a:rPr>
              <a:t>Performance 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5C"/>
                </a:solidFill>
              </a:rPr>
              <a:t>$29.7M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Final 10-yr NAV (from $10M equity)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254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5C"/>
                </a:solidFill>
              </a:rPr>
              <a:t>$24.4M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SPY Buy-Hold benchmark (same period)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27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5C"/>
                </a:solidFill>
              </a:rPr>
              <a:t>+$5.3M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Outperformance vs SPY in absolute 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301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5C"/>
                </a:solidFill>
              </a:rPr>
              <a:t>11.5%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6301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Portfolio CAGR (vs SPY 12.2%)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32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5C"/>
                </a:solidFill>
              </a:rPr>
              <a:t>14.3%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03250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Median BTR Project IRR (levered)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5C"/>
                </a:solidFill>
              </a:rPr>
              <a:t>14.1%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4348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Median BTS Project IRR (23-mo cycle)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371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5C"/>
                </a:solidFill>
              </a:rPr>
              <a:t>2.1×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8371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Median equity multiple (BTR, 6-yr)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39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5C"/>
                </a:solidFill>
              </a:rPr>
              <a:t>15.9%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52395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Median development spread at stabilisation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Why Sun Belt vacant land —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A4A"/>
                </a:solidFill>
              </a:rPr>
              <a:t>Three structural forces converge to create durable demand for ground-up multifamily development in Phoenix and Austin: population inflows, constrained supply, and reshoring-driven employment.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657600" cy="42062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657600" cy="45720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385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Population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146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Phoenix #1 fastest-growing U.S. metro 2023-2024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9718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Austin +2.8% net population growth 2022-2024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4290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Net domestic in-migration from CA, IL, NY continues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8862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Household formation driving sub-20% vacancy rates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3657600" cy="42062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9385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Supply Constraint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5146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Entitled vacant land near services is scarce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9718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Permitting timelines 18-24 months (Phoenix Chandler)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4290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Construction cost inflation 3-5%/yr limits 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862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Zoning resistance limits new supply corridors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3657600" cy="420624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920240"/>
            <a:ext cx="3657600" cy="457200"/>
          </a:xfrm>
          <a:prstGeom prst="rect">
            <a:avLst/>
          </a:prstGeom>
          <a:solidFill>
            <a:srgbClr val="1E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9385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Employment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5146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TSMC $40B fab (Phoenix) → 10k+ jobs announced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9718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Intel $20B campus (Chandler) + supply chain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4290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Tesla Gigafactory Texas → 22k jobs (Austin fringe)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886200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•  NXP, Samsung, Amazon fulfillment hubs expanding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AI-Powered Lot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H3 spatial scoring model — Phoenix &amp; Austin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103120" cy="493776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103120" cy="50292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527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9214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618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Vacancy
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H3 cells (res-8,
~211 acres) with
built_pct below
15th percentile.
Filters true vacant
land from developed.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234440"/>
            <a:ext cx="2103120" cy="493776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234440"/>
            <a:ext cx="2103120" cy="50292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12527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9214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12618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GBM Investment
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Gradient boosting
trained on: satellite
build coverage, permit
velocity, population
density, FERC queue
capacity (AUC 0.58*).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234440"/>
            <a:ext cx="2103120" cy="493776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234440"/>
            <a:ext cx="2103120" cy="50292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12527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9214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2618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Ring Premium
Scorer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Peak score at urban
fringe 8-30km Austin
/ 10-45km Phoenix.
Downtown &amp; exurban
cells penalized.
Captures sweet spot.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234440"/>
            <a:ext cx="2103120" cy="493776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1234440"/>
            <a:ext cx="2103120" cy="50292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7" y="12527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9214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12618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Land Value
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7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Multi-anchor exponential
decay: V(d)=base x
exp(-d/decay). MAX
across 7-8 anchors
(CBD, employment
nodes, lifestyle).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234440"/>
            <a:ext cx="2103120" cy="493776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1234440"/>
            <a:ext cx="2103120" cy="50292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12527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9214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12618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Opportunity
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7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Composite: 35% permit
velocity + 25% ring
score + 25% vacancy
+ 15% investment
score. Tiers: top
10% = Tier 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4A4A"/>
                </a:solidFill>
              </a:rPr>
              <a:t>* AUC 0.58 (honest temporal split, no data leakage). Modest but statistically significant above 0.50 random baseline. Phoenix permits API broken post-Q3 2020 — neighbor_velocity signal degraded; fix in roadmap.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2235"/>
                </a:solidFill>
              </a:rPr>
              <a:t>Output: 889 Tier-1 cells (478 Phoenix | 411 Austin)  +  1,340 Tier-2 cells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Deal Economics — Phoenix Chandler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Validated 1-acre Type-V garden multifamily  |  Gap-corrected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840480" cy="502920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2235"/>
                </a:solidFill>
              </a:rPr>
              <a:t>Underwriting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Parcel: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00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1.0 acre — 43,560 sqft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FAR: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87451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0.50 — 21,780 buildable sqft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Land: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148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$200,000/acre (Chandler Tier-1)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23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Hard Cost: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4231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$175/sqft (Mortenson Index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Soft Costs: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697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15% of land + hard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71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Total Cost: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9718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$4.61M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461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LTV: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2461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65% — Loan $3.00M | Equity $1.61M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20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Constr. Rate: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5204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8.5% (S-curve draw, avg 55%)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Lease-Up: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7947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12 months @ 55% avg occupancy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690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Perm Rate: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06907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6.0% (refi at stabilisation)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434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Rent: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3434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$21/sqft/yr effective ($1.75/mo)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617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NOI Yr1: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617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$276,486 (7% vacancy, 35% opex)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892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Exit Cap: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8920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5.0% BTR / 5.0% BTS (Phoenix)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663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Val. Stab.: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51663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$5.53M  |  Dev Spread +19.9%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440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YOC: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4406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6.0% (NOI / Total Cost)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1143000"/>
            <a:ext cx="3566160" cy="502920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1143000"/>
            <a:ext cx="3566160" cy="41148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117043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Build-to-Sell (BTS)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Timeline: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14 mo construct + 12 mo lease-up = 26 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Sale Price: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$5.53M × 98% = $5.42M (net costs)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Loan Payoff: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($3.00M)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Sale Equity: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$2.42M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Lease NOI: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+$152K partial income during ramp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Constr. Int.: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($163K) progressive S-curve draw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Lease Int.: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($255K) construction loan carry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Net to Inv.: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$2.15M total cash on $2.03M all-in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Simple Ret.: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+6% over 26 months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Ann. IRR: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~11.5% (26-month annualised)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6280" y="5303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Best For: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Capital velocity — recycle every 2 yrs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1143000"/>
            <a:ext cx="3657600" cy="502920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1143000"/>
            <a:ext cx="3657600" cy="411480"/>
          </a:xfrm>
          <a:prstGeom prst="rect">
            <a:avLst/>
          </a:prstGeom>
          <a:solidFill>
            <a:srgbClr val="1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11704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Build-to-Rent (BTR)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Hold: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8360" y="1645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5 years post-CO (after lease-up)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Perm Int.: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8360" y="2011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$180K/yr (6.0% on $3.0M loan)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COCF Yr1: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38360" y="2377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$96K net after perm debt service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Rent Growth: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3836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4.0%/yr Phoenix (RealPage 2025)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32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COCF 5-yr: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3836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$543K cumulative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7532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Exit NOI: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8360" y="3474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$336K (NOI × 1.04^5)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532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Exit Value: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836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$6.73M (NOI/cap 5.0%)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532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Net Proc.: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38360" y="4206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$3.73M (after loan payoff)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532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Total Cash: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38360" y="4572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$4.27M on $2.03M all-in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7532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Equity Mult: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38360" y="4937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2.10× over 6 years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75320" y="5303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Ann. IRR: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38360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A4A"/>
                </a:solidFill>
              </a:rPr>
              <a:t>~17.5% (levered, 6-yr hold)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6281928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YOC 6.0%  |  Dev Spread +19.9%  |  BTS IRR 11.5%  |  BTR IRR 17.5%  |  Construction draw: S-curve 55%  |  Lease-up: 12 mo modelled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Portfolio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$10M equity  |  17 projects  |  10-year horizon  |  Gap-corrected model</a:t>
            </a:r>
          </a:p>
        </p:txBody>
      </p:sp>
      <p:pic>
        <p:nvPicPr>
          <p:cNvPr id="6" name="Picture 5" descr="re_portfol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4A4A4A"/>
                </a:solidFill>
              </a:rPr>
              <a:t>Progressive draw (55% avg) + 12-15 mo lease-up + Austin Yr1 rent stress (−2%) + 40% Phoenix BTS exits. NAV $29.7M vs SPY $24.4M. CAGR 11.5% vs SPY 12.2% — near-parity while generating structurally uncorrelated private returns.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Portfolio vs. SPY Buy-Hold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Risk-adjusted comparison  |  10-year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6128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161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Corp RE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161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SPY Unlevered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16128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Levered SPY (65% LTV)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72768"/>
            <a:ext cx="11430000" cy="402336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91056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Final NAV (from $10M)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5910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2235"/>
                </a:solidFill>
              </a:rPr>
              <a:t>$29.7M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5910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$24.4M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591056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~$38M (est.)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93392"/>
            <a:ext cx="11430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1168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11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2235"/>
                </a:solidFill>
              </a:rPr>
              <a:t>11.5%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011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01168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~17% (est.)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14016"/>
            <a:ext cx="11430000" cy="402336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3230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Leverage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4323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65% LTV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4323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None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43230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65% 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34640"/>
            <a:ext cx="11430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5292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Median Project IRR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852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2235"/>
                </a:solidFill>
              </a:rPr>
              <a:t>14.3% BTR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852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85292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55264"/>
            <a:ext cx="11430000" cy="402336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27355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BTS Exit IRR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273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2235"/>
                </a:solidFill>
              </a:rPr>
              <a:t>14.1% (23 mo)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273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27355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75888"/>
            <a:ext cx="11430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694176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Equity Multiple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36941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2.1×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6941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2.44×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694176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~3.8×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096512"/>
            <a:ext cx="11430000" cy="402336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11480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Market Correlation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114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Low (private)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114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11480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517136"/>
            <a:ext cx="11430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5354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Liquidity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4535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Illiquid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535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Daily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5354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Daily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937760"/>
            <a:ext cx="11430000" cy="402336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95604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Tax Treatment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Dep. / 1031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LTCG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495604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LTCG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358384"/>
            <a:ext cx="11430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37667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Max Drawdown (public mkt)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0440" y="5376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N/A (private)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5376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−34%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537667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~−55%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9893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Key insight: RE portfolio generates $5.3M more absolute wealth than unlevered SPY over the simulation period. The CAGR comparison slightly understates RE advantage because the portfolio runs the full 10-year horizon while SPY data covers ~7.75 years. Uncorrelated private returns are additive to a public equity portfolio.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Top 5 Phoenix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Tier-1 H3 cells  |  Scored Q1 2026  |  West Valley &amp; Queen Creek corridors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612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6128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1612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1612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Land Value/Acre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1612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Dist CBD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1612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Build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11612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Google Maps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54480"/>
            <a:ext cx="11430000" cy="78638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554480"/>
            <a:ext cx="822960" cy="786384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810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81051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West Cora Lane Maryvale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8105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2235"/>
                </a:solidFill>
              </a:rPr>
              <a:t>0.701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8105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$57,247/ac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1051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13.2 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8105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12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178308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maps.google.com/@33.4861,-112.2088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59152"/>
            <a:ext cx="1143000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359152"/>
            <a:ext cx="822960" cy="786384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6151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615184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East Happy Road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61518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2235"/>
                </a:solidFill>
              </a:rPr>
              <a:t>0.697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61518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$33,476/ac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1518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44.5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61518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12 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258775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maps.google.com/@33.2080,-111.6915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63824"/>
            <a:ext cx="11430000" cy="78638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163824"/>
            <a:ext cx="822960" cy="786384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4198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419856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West Lower Buckeye Road Santa Maria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41985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2235"/>
                </a:solidFill>
              </a:rPr>
              <a:t>0.696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41985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$63,405/ac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41985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12.7 km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41985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12 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3392424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maps.google.com/@33.4240,-112.2074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68496"/>
            <a:ext cx="1143000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968496"/>
            <a:ext cx="822960" cy="786384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224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422452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East Sonoqui Boulevard Queen Creek Ranchettes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2245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2235"/>
                </a:solidFill>
              </a:rPr>
              <a:t>0.692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2245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$33,481/ac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2245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44.3 km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42245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12 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4197096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maps.google.com/@33.2428,-111.6655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773168"/>
            <a:ext cx="11430000" cy="78638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4773168"/>
            <a:ext cx="822960" cy="786384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029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02920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South 45th Drive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50292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2235"/>
                </a:solidFill>
              </a:rPr>
              <a:t>0.689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029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$52,700/ac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5029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13.6 km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50292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12 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61320" y="5001768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maps.google.com/@33.3459,-112.1539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West Valley industrial fringe (cells 1,3): Maryvale/Lower Buckeye, $57–$63k/acre, &lt;15km I-10, semiconductor supply chain proximity.  Queen Creek corridor (cells 2,4): $33–$34k/acre, adjacent to Chandler fab expansion belt.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Top 5 Austin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Tier-1 H3 cells  |  BTR strategy only (BTS: AVOID oversupply)  |  SE fringe &amp; Bergstrom corridor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612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6128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1612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1612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Land Value/Acre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1612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Dist CBD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1612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Build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11612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Google Maps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54480"/>
            <a:ext cx="11430000" cy="78638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554480"/>
            <a:ext cx="822960" cy="786384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810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81051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30.2016, -97.7007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8105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</a:rPr>
              <a:t>0.743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8105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$222,831/ac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1051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8.4 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8105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9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1783080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maps.google.com/@30.2016,-97.7007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59152"/>
            <a:ext cx="1143000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359152"/>
            <a:ext cx="822960" cy="786384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6151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615184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30.1937, -97.7053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61518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</a:rPr>
              <a:t>0.739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61518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$192,403/ac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1518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8.9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61518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9 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258775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maps.google.com/@30.1937,-97.7053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63824"/>
            <a:ext cx="11430000" cy="78638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163824"/>
            <a:ext cx="822960" cy="786384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4198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419856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30.3379, -97.7810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41985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</a:rPr>
              <a:t>0.735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41985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$206,589/ac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41985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8.7 km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41985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9 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3392424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maps.google.com/@30.3379,-97.7810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68496"/>
            <a:ext cx="1143000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968496"/>
            <a:ext cx="822960" cy="786384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224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422452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30.2360, -97.8205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2245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</a:rPr>
              <a:t>0.735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2245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$231,754/ac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2245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8.2 km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42245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16 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4197096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maps.google.com/@30.2360,-97.8205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773168"/>
            <a:ext cx="11430000" cy="78638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4773168"/>
            <a:ext cx="822960" cy="786384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029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02920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30.1862, -97.6997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50292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7A"/>
                </a:solidFill>
              </a:rPr>
              <a:t>0.732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029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$150,418/ac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5029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9.9 km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50292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~15 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61320" y="5001768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66CC"/>
                </a:solidFill>
              </a:rPr>
              <a:t>maps.google.com/@30.1862,-97.6997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Austin: BTR-only strategy (BTS AVOID — suburban rents −10-11% YoY, oversupply 2024-2026). SE fringe (Bergstrom/Tesla corridor): $150–$230k/acre, absorption confirmed, 15-month lease-up modelled, 2% Year-1 rent stress applied. BTR IRR ~14.3%.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Signal Validation — Lot Finder IC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Walk-forward Spearman IC vs 24-month forward development (satellite built-pct change)</a:t>
            </a:r>
          </a:p>
        </p:txBody>
      </p:sp>
      <p:pic>
        <p:nvPicPr>
          <p:cNvPr id="6" name="Picture 5" descr="lot_backtest_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77840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•  Phoenix 2018-2020: Peak IC +0.41 (2019) — model correctly ranked cells before semiconductor fab announcements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8815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•  Phoenix post-2020: Permits API broken → neighbor_velocity signal degraded. Fix scheduled: restore API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98464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•  Austin 2018-2019: IC +0.21 to +0.35 — model led Tesla/NXP corridor by 18-24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0877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•  Austin 2020-2022: IC negative — genuine COVID freeze (supply chains halted, remote work reversed migration), not model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•  Austin 2023 recovery: IC +0.29 — signal re-engaged as market normalised; confirms model re-validity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9400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•  GBM AUC 0.58 (honest temporal split, no look-ahead bias) — modest but significant; spatial split biases upward to 0.91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Risk Factors &amp; Mitigants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Development risk register — 10 key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61288"/>
            <a:ext cx="3246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161288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161288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Likelihood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16128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161288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Mitigant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27048"/>
            <a:ext cx="11430000" cy="42062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Construction Cost Overrun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600200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600200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600200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Fixed-price GMP contracts; 10% contingency in TDC; Mortenson/EVstudio benchmarks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65960"/>
            <a:ext cx="114300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03911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Lease-Up Slower Than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039112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039112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039112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15-month model uses conservative 55% avg occ ramp; Austin BTS AVOID; Phoenix historically &lt;12 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04872"/>
            <a:ext cx="11430000" cy="42062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47802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2E"/>
                </a:solidFill>
              </a:rPr>
              <a:t>Interest Rate Spike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478024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478024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478024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Rate caps on construction loan; perm loan commitment at CO; stress-tested at 7.5% perm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843784"/>
            <a:ext cx="114300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916936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Permit / Entitlement 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916936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916936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8B5C"/>
                </a:solidFill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916936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Tier-1 cells pre-screened for zoning compatibility; Phoenix BTS avoids long-hold rate 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282696"/>
            <a:ext cx="11430000" cy="42062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3558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Exit Cap Rate Compression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3355848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8B5C"/>
                </a:solidFill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355848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355848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Conservative 5.0-5.2% caps used; cap compression is upside, not downside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21608"/>
            <a:ext cx="114300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79476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Exit Cap Rate Expansion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794760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3794760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794760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BTS exits eliminate hold-period cap risk for 40% of portfolio; BTR exits diversified by year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60520"/>
            <a:ext cx="11430000" cy="42062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23367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Rental Rate Decline (Austin)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233672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233672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233672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Austin Year-1 -2% stress baked in; BTR-only Austin strategy; Tier-1 submarkets avoid suburban glut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599431"/>
            <a:ext cx="114300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672583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Permit API Data Gap (Phoenix)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4672583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4672583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8B5C"/>
                </a:solidFill>
              </a:rPr>
              <a:t>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4672583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Phoenix scores degraded post-2020; API fix in roadmap; scores still valid for rel. ranking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38344"/>
            <a:ext cx="11430000" cy="420624"/>
          </a:xfrm>
          <a:prstGeom prst="rect">
            <a:avLst/>
          </a:prstGeom>
          <a:solidFill>
            <a:srgbClr val="F5F0F0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111496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Liquidity Risk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5111496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2120" y="5111496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5111496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RE illiquid; modelled as 5+ year hold; BTS provides 2-yr liquidity events for 40% of PHX capital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477256"/>
            <a:ext cx="114300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55040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Model Overfit / AUC Concern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5550408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2120" y="5550408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9214"/>
                </a:solidFill>
              </a:rPr>
              <a:t>MEDIUM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9640" y="5550408"/>
            <a:ext cx="3520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AUC 0.58 honest split; IC validation positive; conservative underwriting overrides model alone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Next Steps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9214"/>
                </a:solidFill>
              </a:rPr>
              <a:t>Highest-impact improvements in priority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502920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59436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1
(Immediate)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1.  Fix Phoenix permits API — restores 35% of opportunity score 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9191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2.  Aggregate Austin permits to H3 features — currently 0 rows feeding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83863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3.  First land close: target within 90 days using top-5 Phoenix Tier-1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88536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4.  Retain GC for Phoenix hard-cost validation (Mortenson/Catamount)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657600" cy="502920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43000"/>
            <a:ext cx="3657600" cy="59436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16128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2
(60-90 days)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1.  Add parcel-level pipeline (res-9 H3): connect cell scores to APN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79191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2.  Build comps database: integrate CoStar/LoopNet closed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83863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3.  Progressive construction draw S-curve modelling per project (not avg factor)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88536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4.  Add cost segregation / OZ / 1031 tax modelling to deal underwriting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43000"/>
            <a:ext cx="3657600" cy="5029200"/>
          </a:xfrm>
          <a:prstGeom prst="rect">
            <a:avLst/>
          </a:prstGeom>
          <a:solidFill>
            <a:srgbClr val="F5F0F0"/>
          </a:solidFill>
          <a:ln w="9525">
            <a:solidFill>
              <a:srgbClr val="E0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143000"/>
            <a:ext cx="3657600" cy="594360"/>
          </a:xfrm>
          <a:prstGeom prst="rect">
            <a:avLst/>
          </a:prstGeom>
          <a:solidFill>
            <a:srgbClr val="1E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16128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3
(6 months)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874519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1.  Expand to DFW, Nashville, Charlotte — same H3 pipeline (data already exists)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79191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2.  Combine equity signal sector weights as leading RE geographic demand indicator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483863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3.  Add scenario / sensitivity analysis outputs (rate, rent, cap sensitivity tables)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88536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4.  Industrial asset class: model flex/light industrial on commercial-zoned Tier-1 cells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D2235"/>
                </a:solidFill>
              </a:rPr>
              <a:t>Target: $100M AUM within 36 months deploying 3 projects/year across Phoenix and Austin Tier-1 corridors.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9214"/>
                </a:solidFill>
              </a:rPr>
              <a:t>CHAPMAN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Urban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69214"/>
                </a:solidFill>
              </a:rPr>
              <a:t>Real Estate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Phoenix &amp; Austin MSA  |  $10M Equity Target  |  BTR + BTS Hybrid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E0B0"/>
                </a:solidFill>
              </a:rPr>
              <a:t>AI-Scored Lots  |  Gap-Corrected Underwriting  |  Validated 2024-2025 Market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983480"/>
            <a:ext cx="11091672" cy="0"/>
          </a:xfrm>
          <a:prstGeom prst="line">
            <a:avLst/>
          </a:prstGeom>
          <a:ln w="19050">
            <a:solidFill>
              <a:srgbClr val="C692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9214"/>
                </a:solidFill>
              </a:rPr>
              <a:t>Urban Growth Research Platform  |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CCCC"/>
                </a:solidFill>
              </a:rPr>
              <a:t>This presentation is for discussion purposes only and does not constitute an offer to sell or a solicitation of an offer to buy any security. Past model performance does not guarantee future results. All projections are estimates based on market-rate assumptions.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