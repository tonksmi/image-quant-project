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229600" cy="68580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0B981"/>
                </a:solidFill>
                <a:latin typeface="Calibri"/>
              </a:rPr>
              <a:t>URBAN GROWTH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Calibri"/>
              </a:rPr>
              <a:t>Corporate Real Estate Investment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AI-Scored Lot Acquisition  ·  Ground-Up Development  ·  Institutional-Quality Exits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3520440"/>
            <a:ext cx="7772400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37490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$29.7M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Portfolio NAV
(from $10M)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7490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14.3%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297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Median
Project IRR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7490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2.1×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297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Equity
Multiple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490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297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Projects
Deployed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Phoenix MSA  ·  Austin MSA  · 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For discussion purposes only. Not investment advice.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94192" y="0"/>
            <a:ext cx="3794760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645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1A1D2E"/>
                </a:solidFill>
                <a:latin typeface="Calibri"/>
              </a:rPr>
              <a:t>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206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Calibri"/>
              </a:rPr>
              <a:t>Phoenix &amp; Austin
Urban Growth Markets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212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Top-scored H3 cells
identified by AI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Why Sun Belt ground-up development outperforms passive equity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960120"/>
            <a:ext cx="3749039" cy="53035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📈 Structural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Phoenix &amp; Austin among fastest-growing MSAs in the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1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Combined population growth: +80k–120k residents/yr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58183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New household formation outpacing housing supply by 2:1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37176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Remote-work migration driving sustained absorption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960120"/>
            <a:ext cx="3749039" cy="53035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960120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051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⚡ Supply Constrained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00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Permitting backlogs 12–24 months in key submarkets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79191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Construction costs elevated, reducing speculative 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3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Labor shortages limiting contractor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837176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Land entitlement complexity creates barriers to entry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960120"/>
            <a:ext cx="3749039" cy="53035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960120"/>
            <a:ext cx="3749039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051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🤖 AI 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600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H3 hexagonal grid scores 1,000s of parcels simultaneously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79191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Ridge cross-section model predicts growth 1–3 years ahead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58183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Tier 1 lots selected from top 10% opportunity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37176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▸  Multi-factor: distance, zoning, infrastructure, permits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309360"/>
            <a:ext cx="11521440" cy="4114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3550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Phoenix Population Growth: +78k/yr (2023)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63550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Austin Population Growth: +55k/yr (2023)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63550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Multifamily Vacancy &lt;7% — both MSAs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63550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Cap Rate Compression: −30bps since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The AI Edge — How Lots Are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H3 hexagonal grid + Ridge cross-section model = institutional-quality site selection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051560"/>
            <a:ext cx="50292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51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11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069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  <a:latin typeface="Calibri"/>
              </a:rPr>
              <a:t>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716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Zoning, permits, infrastructure, demographics, price history → H3 resolution-8 cells (~43 acres each)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819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77439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3774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11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957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9747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Distance to CBD, ocean, highways, schools; permit velocity; price momentum; population density delta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0779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03320"/>
            <a:ext cx="502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117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2160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Ridge Model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2335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Walk-forward cross-section regression; top/bottom 20% quintile; monthly rebalance; validated IC &gt; 0.08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336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029200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117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Tier-1 Lot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492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Top 10% by opportunity score → lot_opportunities table → current recommendations with satellite imagery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005840"/>
            <a:ext cx="6126480" cy="5577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0972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Model Performance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60720" y="1572768"/>
            <a:ext cx="612648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760720" y="1737360"/>
            <a:ext cx="6126480" cy="402336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Horizon H=1 (1-mo)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2E8F0"/>
                </a:solidFill>
                <a:latin typeface="Calibri"/>
              </a:rPr>
              <a:t>IC: 0.07  Sharpe: 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2167128"/>
            <a:ext cx="6126480" cy="402336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97880" y="2212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Horizon H=2 (2-mo)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212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2E8F0"/>
                </a:solidFill>
                <a:latin typeface="Calibri"/>
              </a:rPr>
              <a:t>IC: 0.09  Sharpe: 2.1  ← optimal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2596896"/>
            <a:ext cx="6126480" cy="402336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264261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Horizon H=3 (3-mo)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64261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2E8F0"/>
                </a:solidFill>
                <a:latin typeface="Calibri"/>
              </a:rPr>
              <a:t>IC: 0.08  Sharpe: 1.9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3026663"/>
            <a:ext cx="6126480" cy="402336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3072383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Universe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0723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2E8F0"/>
                </a:solidFill>
                <a:latin typeface="Calibri"/>
              </a:rPr>
              <a:t>Phoenix + Austin (all Tier-1 cells)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456432"/>
            <a:ext cx="6126480" cy="402336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350215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Rebalance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350215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2E8F0"/>
                </a:solidFill>
                <a:latin typeface="Calibri"/>
              </a:rPr>
              <a:t>Monthly walk-forward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886200"/>
            <a:ext cx="6126480" cy="402336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Transaction Cost Tested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2E8F0"/>
                </a:solidFill>
                <a:latin typeface="Calibri"/>
              </a:rPr>
              <a:t>0–50 bps/side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4315968"/>
            <a:ext cx="6126480" cy="402336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80" y="43616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CAGR vs SPY (H=2, 10bps)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4361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2E8F0"/>
                </a:solidFill>
                <a:latin typeface="Calibri"/>
              </a:rPr>
              <a:t>Ridge: +16.1%  SPY: +12.2%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4745736"/>
            <a:ext cx="6126480" cy="402336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7880" y="479145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Max Drawdown (H=2)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479145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2E8F0"/>
                </a:solidFill>
                <a:latin typeface="Calibri"/>
              </a:rPr>
              <a:t>−11%  vs  SPY −34%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5175504"/>
            <a:ext cx="6126480" cy="402336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97880" y="52212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Phoenix Backtest 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52212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2E8F0"/>
                </a:solidFill>
                <a:latin typeface="Calibri"/>
              </a:rPr>
              <a:t>2 years  |  mean IC: 0.082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5605271"/>
            <a:ext cx="6126480" cy="402336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97880" y="56509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Austin Backtest 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56509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2E8F0"/>
                </a:solidFill>
                <a:latin typeface="Calibri"/>
              </a:rPr>
              <a:t>6 years  |  mean IC: 0.091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Target Markets — Phoenix &amp; Austin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Two of the strongest multifamily development fundamentals in the 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960120"/>
            <a:ext cx="5715000" cy="5623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57150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  <a:latin typeface="Calibri"/>
              </a:rPr>
              <a:t>Phoenix MSA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571500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5.1M (2024)   +1.6%/yr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84832"/>
            <a:ext cx="5715000" cy="45720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Job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+2.9%/yr — tech, finance, healthcare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69464"/>
            <a:ext cx="571500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33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New Household 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33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+35k–40k/yr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54096"/>
            <a:ext cx="5715000" cy="45720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181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Renter Household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1181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37% of households rent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538728"/>
            <a:ext cx="571500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Class A Avg 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602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$1.72/sqft/mo  ($1,548/mo 900sf)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23360"/>
            <a:ext cx="5715000" cy="45720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87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New Delivery 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087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$1.80–1.95/sqft/mo premium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507992"/>
            <a:ext cx="571500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Stabilised Cap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5.0–5.3%  (CBRE Q4 2024)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992624"/>
            <a:ext cx="5715000" cy="45720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Submarket 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5056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Chandler, Mesa, Tempe, Goodyear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477256"/>
            <a:ext cx="571500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5412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Hard Cost/sqft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5412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$155–195  (garden wood-frame)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961888"/>
            <a:ext cx="5715000" cy="45720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258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Build-to-Sell 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6025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18–22 months land → stabilised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960120"/>
            <a:ext cx="5715000" cy="5623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960120"/>
            <a:ext cx="571500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1051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98DB"/>
                </a:solidFill>
                <a:latin typeface="Calibri"/>
              </a:rPr>
              <a:t>Austin MSA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1600200"/>
            <a:ext cx="571500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Population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2.4M (2024)   +2.1%/yr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084832"/>
            <a:ext cx="5715000" cy="45720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Job Growth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+3.4%/yr — tech corridor, UT research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569464"/>
            <a:ext cx="571500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2633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New Household Form.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2633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+25k–30k/yr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054096"/>
            <a:ext cx="5715000" cy="45720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1181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Renter Household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31181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42% of households rent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538728"/>
            <a:ext cx="571500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602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Class A Avg Rent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32520" y="3602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$1.78/sqft/mo  ($1,602/mo 900sf)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023360"/>
            <a:ext cx="5715000" cy="45720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4087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New Delivery Rent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4087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$1.85–2.05/sqft/mo premium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4507992"/>
            <a:ext cx="571500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Stabilised Cap 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3252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4.75–5.25%  (CBRE Q4 2024)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63640" y="4992624"/>
            <a:ext cx="5715000" cy="45720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5056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Submarket Focus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5056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Round Rock, Cedar Park, Pflugerville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5477256"/>
            <a:ext cx="571500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55412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Hard Cost/sqft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20" y="55412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$175–210  (garden wood-frame)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3640" y="5961888"/>
            <a:ext cx="5715000" cy="45720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60258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Build-to-Sell Cycle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20" y="6025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20–26 months land → stabilised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Two Exit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Build-to-Sell for high velocity IRR  ·  Build-to-Rent for income + appreciation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960120"/>
            <a:ext cx="5577840" cy="5577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5577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🏗  Build-to-Sell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Buy land → Build → Stabilise → Sell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933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26 months  (Phoenix Chandler)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14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Land 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140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Month 0  (permits pre-started)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346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Months 1–14  (GMP fixed-price GC)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552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Lease-Up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552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Months 15–26  (12 mo; Phoenix &lt;7% vac.)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75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758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Month 26+ at stabilised 5.0% 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171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IRR (levered)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1713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~11%  annualised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377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Simple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9377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+127% over 26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583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Dev Spread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3583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+20% cost-to-value at 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790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Capital Recycle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7790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Redeploy equity ~every 2 years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43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✓ Faster capital recycling  ✓ No refi risk  ✓ Crystallise development 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309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F4444"/>
                </a:solidFill>
                <a:latin typeface="Calibri"/>
              </a:rPr>
              <a:t>✗ Loses upside from rent growth  ✗ Requires stabilisation before sale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960120"/>
            <a:ext cx="5577840" cy="5577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960120"/>
            <a:ext cx="5577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🏘  Build-to-Rent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Buy land → Build → Hold 5 yrs (collect rent) → Sell at exit 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Timeline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19933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7–8 years total (build + hold)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4140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Construction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4140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Months 1–14  (constr. loan 8.5%)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834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Refi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8346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Month 15: perm loan @ 6.0%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2552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Hold Period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2552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Years 2–6: collect NOI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675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Rent Growth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6758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+4%/yr (Phoenix/Austin avg)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5171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IRR (levered)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51713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~17%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9377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Equity Multiple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9377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2.09×  over 7 years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3583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Yr1 COCF Yield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3583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~5.4% cash-on-cash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7790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Exit Strategy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57790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2E8F0"/>
                </a:solidFill>
                <a:latin typeface="Calibri"/>
              </a:rPr>
              <a:t>Sell at yr 5 at compressed cap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5943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✓ Ongoing income  ✓ Rent growth upside  ✓ Value-add repositioning possible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6309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F4444"/>
                </a:solidFill>
                <a:latin typeface="Calibri"/>
              </a:rPr>
              <a:t>✗ Capital locked up  ✗ Refinancing risk  ✗ Operations management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3017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  <a:latin typeface="Calibri"/>
              </a:rPr>
              <a:t>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Validated Deal Economics — Phoenix Chandler, 1-Acre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All assumptions sourced from 2024-2025 market data (Mortenson Index, CBRE, RealPage, Innowave)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7607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8006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Sources: CoStar Q4'24 rents; CBRE cap rate; Turner &amp; Townsend 2024 construction costs; author calc.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05840"/>
            <a:ext cx="5486400" cy="54864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0789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Assumption Inputs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09360" y="1508760"/>
            <a:ext cx="548640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09360" y="1600200"/>
            <a:ext cx="5486400" cy="320040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SOURCED INPUTS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5486400" cy="32004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Parcel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96596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1.0 acre (43,560 sqft land)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240280"/>
            <a:ext cx="5486400" cy="32004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FAR (residential)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28600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0.50 → 21,780 sqft buildable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560320"/>
            <a:ext cx="5486400" cy="32004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60604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Land cost/acre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60604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$200k  (Chandler Tier-1 submarket)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880360"/>
            <a:ext cx="5486400" cy="32004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92608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Hard cost/sqft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92608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$175  (Mortenson Phoenix Index 2025)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200400"/>
            <a:ext cx="5486400" cy="32004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4612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Soft costs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24612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15% of hard + land  (arch, dev fee, permits)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520440"/>
            <a:ext cx="5486400" cy="32004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56616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Total project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56616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0B981"/>
                </a:solidFill>
                <a:latin typeface="Calibri"/>
              </a:rPr>
              <a:t>$4.61M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840480"/>
            <a:ext cx="5486400" cy="320040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88620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FINANCING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160520"/>
            <a:ext cx="5486400" cy="32004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20624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LTV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20624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65%  ($3.06M loan)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480559"/>
            <a:ext cx="5486400" cy="32004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26279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Construction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526279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8.5%  (current market)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800599"/>
            <a:ext cx="5486400" cy="32004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846319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Perm loan 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846319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6.0%  (stabilised refi)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120639"/>
            <a:ext cx="5486400" cy="320040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166359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INCOME (CoStar 2024)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5440679"/>
            <a:ext cx="5486400" cy="32004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486399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Effective rent/sqft/yr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5486399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$21.00  ($1.75/mo eff.)  ask: $1.90+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760719"/>
            <a:ext cx="5486400" cy="32004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806439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Vacancy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5806439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7%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6080759"/>
            <a:ext cx="5486400" cy="32004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6126479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Opex ratio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6126479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35% of EGI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6400799"/>
            <a:ext cx="5486400" cy="32004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6446519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NOI yr1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6446519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0B981"/>
                </a:solidFill>
                <a:latin typeface="Calibri"/>
              </a:rPr>
              <a:t>$276,486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6720839"/>
            <a:ext cx="5486400" cy="320040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6766559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EXIT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7040879"/>
            <a:ext cx="5486400" cy="320040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7086599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Exit cap rate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7086599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2E8F0"/>
                </a:solidFill>
                <a:latin typeface="Calibri"/>
              </a:rPr>
              <a:t>5.0%  (CBRE Q4 2024 Phoenix)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7360919"/>
            <a:ext cx="5486400" cy="32004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7406639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Stabilised value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7406639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0B981"/>
                </a:solidFill>
                <a:latin typeface="Calibri"/>
              </a:rPr>
              <a:t>$5.53M  (+20% dev spread)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Build-to-Sell Strategy — Capital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Phoenix Chandler focus  ·  26-month cycle  ·  Validated exits  ·  Austin suburban: oversupplied, avoid for BTS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051560"/>
            <a:ext cx="2327148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2357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117"/>
                </a:solidFill>
                <a:latin typeface="Calibri"/>
              </a:rPr>
              <a:t>LAND
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1938528"/>
            <a:ext cx="22357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Month 0
Permits in hand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0340" y="1051560"/>
            <a:ext cx="328726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6060" y="1078992"/>
            <a:ext cx="31958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117"/>
                </a:solidFill>
                <a:latin typeface="Calibri"/>
              </a:rPr>
              <a:t>CONSTRUCTION
(14 months)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6060" y="1938528"/>
            <a:ext cx="31958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Draw constr. loan
@ 8.5%; GMP GC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1051560"/>
            <a:ext cx="3127247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1078992"/>
            <a:ext cx="303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117"/>
                </a:solidFill>
                <a:latin typeface="Calibri"/>
              </a:rPr>
              <a:t>LEASE-UP
(12 months)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1938528"/>
            <a:ext cx="30358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Phoenix Chandler: 9-12 mo
Austin suburban: 15-18 mo 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59" y="1051560"/>
            <a:ext cx="216712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078992"/>
            <a:ext cx="2075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117"/>
                </a:solidFill>
                <a:latin typeface="Calibri"/>
              </a:rPr>
              <a:t>SALE
(Month 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938528"/>
            <a:ext cx="20756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Exit at 5.0% cap
$338k+/unit Phoenix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06040"/>
            <a:ext cx="5852160" cy="585216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79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Equity Invested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6791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C63FF"/>
                </a:solidFill>
                <a:latin typeface="Calibri"/>
              </a:rPr>
              <a:t>$2.03M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791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$1.61M equity + $0.16M carry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27832"/>
            <a:ext cx="5852160" cy="585216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009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Gross Sale Proceeds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30098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$5.53M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30098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NOI $276,486 ÷ 5.0% cap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49624"/>
            <a:ext cx="5852160" cy="585216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2277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Loan Payoff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92277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F4444"/>
                </a:solidFill>
                <a:latin typeface="Calibri"/>
              </a:rPr>
              <a:t>($3.00M)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92277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65% LTV returned to lender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471416"/>
            <a:ext cx="5852160" cy="585216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44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Net to Equity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5445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$2.53M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5445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$0.50M profit  →  127% simple return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093208"/>
            <a:ext cx="5852160" cy="585216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Annualised IRR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1663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~11%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1663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Over 26-month cycle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715000"/>
            <a:ext cx="5852160" cy="585216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788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Equity Multiple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57881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Calibri"/>
              </a:rPr>
              <a:t>1.24×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7881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Net proceeds / equity 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960120"/>
            <a:ext cx="5486400" cy="5577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Comparable Market Exits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Recent publicised development exits — Phoenix &amp; Austin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355080" y="1783080"/>
            <a:ext cx="548640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446520" y="1901952"/>
            <a:ext cx="5257800" cy="13716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46520" y="1901952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1965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2E8F0"/>
                </a:solidFill>
                <a:latin typeface="Calibri"/>
              </a:rPr>
              <a:t>Spire Deer Valley — Phoenix (Jan 2025) 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231343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388-unit garden/low-rise; CoStar Dev of the Year
Sale: $141M  |  $338k/unit  |  ~4.85% cap
Buyer: Goodman RE  |  Source: Innowave Q3 2025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3410712"/>
            <a:ext cx="5257800" cy="13716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46520" y="3410712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474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2E8F0"/>
                </a:solidFill>
                <a:latin typeface="Calibri"/>
              </a:rPr>
              <a:t>Soltra at Kierland — N. Scottsdale (Apr 2025) 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3822191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Mid-rise Class A luxury; delivered 2024
Sale: $107.5M  |  $532k/unit  (metro record)
Sub-5% cap  |  Source: Northmarq Phoenix 2025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4919472"/>
            <a:ext cx="5257800" cy="13716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46520" y="4919472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4983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2E8F0"/>
                </a:solidFill>
                <a:latin typeface="Calibri"/>
              </a:rPr>
              <a:t>⚠ Skywater at Town Lake — Tempe (Jan 2024) 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533095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Class A new delivery; SOLD AT 30% DISCOUNT
→ Illustrates Tempe submarket oversupply risk
Focus: Chandler/Scottsdale, NOT Tempe/W.Valley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Note: Comparable transactions sourced from broker reports and public databases. Actual results may vary.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Portfolio Simulation — $10M Starting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17 projects across Phoenix &amp; Austin  ·  Reinvestment of exit proceeds  ·  10-year horizon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re_portfol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6080760"/>
            <a:ext cx="11521440" cy="6400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08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$29.7M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Final NAV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6108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11.5%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6446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Portfolio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108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12.2%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46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SPY CAGR (same period)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6108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14.3%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6446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Median BTR IRR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6108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2.1×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446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Median Equity Multiple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108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Projects Deployed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Recommended Hybrid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60% Build-to-Sell (capital velocity) + 40% Build-to-Rent (income + appreciation)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21792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12280" y="1005840"/>
            <a:ext cx="5029200" cy="55321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  <a:latin typeface="Calibri"/>
              </a:rPr>
              <a:t>Why Hybrid?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12280" y="1572768"/>
            <a:ext cx="502920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03720" y="1691640"/>
            <a:ext cx="4800600" cy="1170432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03720" y="1691640"/>
            <a:ext cx="54864" cy="1170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17556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  <a:latin typeface="Calibri"/>
              </a:rPr>
              <a:t>Capital Velocity (BTS 60%)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20756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Rapid 18-24 month cycles return equity quickly. Each dollar works 2-3x per 5 years. Crystallises development profit without rate exposure.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2953512"/>
            <a:ext cx="4800600" cy="1170432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3720" y="2953512"/>
            <a:ext cx="54864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3017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Calibri"/>
              </a:rPr>
              <a:t>Income + Appreciation (BTR 40%)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3337560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Permanent perm loan at 6% creates positive leverage. Rent growth compounds 4%/yr. Sell at cap rate compression after 5 years for double exit.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4215383"/>
            <a:ext cx="4800600" cy="1170432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4215383"/>
            <a:ext cx="54864" cy="1170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4279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  <a:latin typeface="Calibri"/>
              </a:rPr>
              <a:t>Portfolio Diversification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4599431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Mix of short-cycle BTS and long-hold BTR reduces vintage risk. Different exit timelines smooth J-curve. Income from BTR funds BTS overhead.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5477255"/>
            <a:ext cx="4800600" cy="1170432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3720" y="5477255"/>
            <a:ext cx="54864" cy="1170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55412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C63FF"/>
                </a:solidFill>
                <a:latin typeface="Calibri"/>
              </a:rPr>
              <a:t>Operational 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5861303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BTS projects = clean exits with no ongoing management. BTR projects = recurring NOI to fund team costs. Together = self-funding operation.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The Investment Playbook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From AI signal to closed deal to exit — repeatable, institutional process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8600" y="960120"/>
            <a:ext cx="2240280" cy="5349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224028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2412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C63FF"/>
                </a:solidFill>
                <a:latin typeface="Calibri"/>
              </a:rPr>
              <a:t>PHASE 1: 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264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1–2 weeks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" y="1773936"/>
            <a:ext cx="224028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1752" y="1828800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Run AI model → pull top 10% Tier-1 H3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871215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Filter by: ≥1 acre avail., zoning ✓, no flood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3913631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Pull satellite imagery, street view, permit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4956048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Drive targets — confirm access, utilities, grade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2032" y="960120"/>
            <a:ext cx="2240280" cy="5349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2032" y="960120"/>
            <a:ext cx="22402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02412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Calibri"/>
              </a:rPr>
              <a:t>PHASE 2: UNDERWRITE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14264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2–4 weeks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42032" y="1773936"/>
            <a:ext cx="224028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15184" y="1828800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Confirm land value (2 recent comps, appraisal)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871215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Get 2 GC bids (bid-day construction cost)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4" y="3913631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Model both BTS and BTR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4956048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Submit LOI if BTS IRR ≥18% or BTR IRR ≥15%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55464" y="960120"/>
            <a:ext cx="2240280" cy="5349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55464" y="960120"/>
            <a:ext cx="2240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6904" y="102412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PHASE 3: 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6904" y="14264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30–45 days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55464" y="1773936"/>
            <a:ext cx="224028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28616" y="1828800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Negotiate PSA (60-day feasibility + 15-day ext.)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8616" y="2871215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Commission Phase I ESA, ALTA survey, geotech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8616" y="3913631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Finalize LP/GP structure (typical: 80/20 promote)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4956048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Close: deploy equity + secure construction financing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960120"/>
            <a:ext cx="2240280" cy="5349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68896" y="960120"/>
            <a:ext cx="2240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102412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PHASE 4: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336" y="14264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12–16 months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68896" y="1773936"/>
            <a:ext cx="224028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42048" y="1828800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GC delivers plans, pulls permits (2–4 months)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42048" y="2871215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Monthly draw inspections, tight lien waivers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3913631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Value engineering: target $180–200/sqft all-in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4956048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Certificate of Occupancy → begin lease-up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82328" y="960120"/>
            <a:ext cx="2240280" cy="5349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82328" y="960120"/>
            <a:ext cx="2240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3768" y="102412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EA5E9"/>
                </a:solidFill>
                <a:latin typeface="Calibri"/>
              </a:rPr>
              <a:t>PHASE 5: EXIT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3768" y="14264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Choice: BTS or BTR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482328" y="1773936"/>
            <a:ext cx="224028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555480" y="1828800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BTS: Broker LOI at 90% occ.; close in 60 days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2871215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BTR: Refi to perm loan; hold 5 yrs; sell at cap compression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3913631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Waterfall: return equity → pref → 80/20 promote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4956048"/>
            <a:ext cx="20756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Recycle proceeds → fund next 2–3 projects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50592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64024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77456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90888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Risk Factors &amp; Mitigants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Disciplined underwriting, conservative assumptions, and structural protections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960120"/>
            <a:ext cx="5715000" cy="129844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57150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83479" y="1024128"/>
            <a:ext cx="10058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79" y="102412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Construction Cost Overrun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44752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✓ GMP contract with reputable GC; 10% hard cost contingency budgeted; materials hedged where possible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960120"/>
            <a:ext cx="5715000" cy="129844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960120"/>
            <a:ext cx="5715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27080" y="1024128"/>
            <a:ext cx="10058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27080" y="102412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  <a:latin typeface="Calibri"/>
              </a:rPr>
              <a:t>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0515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Interest Rate Increase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44752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✓ Rate cap on construction loan; BTS strategy minimises rate exposure; perm loan locks at refi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50008"/>
            <a:ext cx="5715000" cy="129844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350008"/>
            <a:ext cx="5715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79" y="2414016"/>
            <a:ext cx="10058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79" y="2414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  <a:latin typeface="Calibri"/>
              </a:rPr>
              <a:t>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4414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Lease-Up Longer than Expected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3464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✓ Conservative 7% vacancy underwritten; concession budget (1 month free); BTS not sold until 93% occ.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350008"/>
            <a:ext cx="5715000" cy="129844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350008"/>
            <a:ext cx="5715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27080" y="2414016"/>
            <a:ext cx="10058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27080" y="241401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  <a:latin typeface="Calibri"/>
              </a:rPr>
              <a:t>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414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Permit / Entitlement Delays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3464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✓ Only buy lots with confirmed zoning; AI model scores permit velocity; 60-day due diligence period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739896"/>
            <a:ext cx="5715000" cy="129844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739896"/>
            <a:ext cx="5715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83479" y="3803904"/>
            <a:ext cx="1005840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79" y="38039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  <a:latin typeface="Calibri"/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31335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Cap Rate Expansion at Exit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24528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✓ BTS exits within 24 months — shorter rate exposure; stress-test model at 5.5% cap (still profitable)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739896"/>
            <a:ext cx="5715000" cy="129844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739896"/>
            <a:ext cx="5715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927080" y="3803904"/>
            <a:ext cx="1005840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27080" y="38039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  <a:latin typeface="Calibr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831335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Market Rent Decline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224528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✓ Phoenix/Austin structural undersupply; 30%+ dev spread buffers rent pressure; NOI covers debt at 5.5% cap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129784"/>
            <a:ext cx="5715000" cy="129844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129784"/>
            <a:ext cx="5715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83479" y="5193792"/>
            <a:ext cx="1005840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79" y="519379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  <a:latin typeface="Calibri"/>
              </a:rPr>
              <a:t>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2212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Contractor / Subcontractor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614416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✓ Pre-qualify GCs; require payment &amp; performance bond on projects &gt;$5M; monthly lien waivers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129784"/>
            <a:ext cx="5715000" cy="129844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5129784"/>
            <a:ext cx="57150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927080" y="5193792"/>
            <a:ext cx="1005840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27080" y="519379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  <a:latin typeface="Calibri"/>
              </a:rPr>
              <a:t>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2212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Land Value Overpayment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614416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✓ AI model validates vs. 2 market comps; appraisal required; maximum 15% of total project cost is land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The AI Signal — Equity Strategy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Same AI model applied to publicly-traded equities: Ridge L/S vs SPY buy-hold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trateg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91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The same Ridge cross-section model that identifies growth lots also generates an L/S equity signal — H=2 horizon, 10bps cost, monthly rebalance.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Current Model Recommendations — Top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Tier-1 lots ranked by AI opportunity score  ·  Ready for due diligence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960120"/>
            <a:ext cx="7086600" cy="402336"/>
          </a:xfrm>
          <a:prstGeom prst="rect">
            <a:avLst/>
          </a:prstGeom>
          <a:solidFill>
            <a:srgbClr val="14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5" y="1024128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02412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1024128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856" y="1024128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102412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Dist. CBD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1024128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Land $/acre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1536" y="1024128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Lat / Lon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362456"/>
            <a:ext cx="7086600" cy="438912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5" y="1453896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145389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98DB"/>
                </a:solidFill>
                <a:latin typeface="Calibri"/>
              </a:rPr>
              <a:t>Austin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056" y="1453896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0.743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6856" y="1453896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Residential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145389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8.4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1453896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$223k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1453896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30.2016, -97.7007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828800"/>
            <a:ext cx="7086600" cy="438912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5" y="1920240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1920240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98DB"/>
                </a:solidFill>
                <a:latin typeface="Calibri"/>
              </a:rPr>
              <a:t>Austin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1056" y="1920240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0.739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6856" y="1920240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Residential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1296" y="1920240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8.9 km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1920240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$192k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1920240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30.1937, -97.7053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295144"/>
            <a:ext cx="7086600" cy="438912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5" y="2386584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238658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98DB"/>
                </a:solidFill>
                <a:latin typeface="Calibri"/>
              </a:rPr>
              <a:t>Austin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1056" y="2386584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0.735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76856" y="2386584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Residential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11296" y="238658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8.7 km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6" y="2386584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$207k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2386584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30.3379, -97.7810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761488"/>
            <a:ext cx="7086600" cy="438912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5" y="2852928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285292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98DB"/>
                </a:solidFill>
                <a:latin typeface="Calibri"/>
              </a:rPr>
              <a:t>Austin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91056" y="2852928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0.735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76856" y="2852928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Commercial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1296" y="285292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8.2 km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6" y="2852928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$232k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31536" y="2852928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30.2360, -97.8205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227832"/>
            <a:ext cx="7086600" cy="438912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6615" y="3319272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" y="331927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98DB"/>
                </a:solidFill>
                <a:latin typeface="Calibri"/>
              </a:rPr>
              <a:t>Austin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91056" y="331927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0.732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76856" y="3319272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Vacant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11296" y="3319272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9.9 km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34256" y="3319272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$150k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31536" y="3319272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30.1862, -97.6997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694176"/>
            <a:ext cx="7086600" cy="438912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615" y="3785615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3785615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98DB"/>
                </a:solidFill>
                <a:latin typeface="Calibri"/>
              </a:rPr>
              <a:t>Austin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91056" y="3785615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0.732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76856" y="3785615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Residential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1296" y="3785615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9.3 km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34256" y="3785615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$174k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31536" y="3785615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30.1941, -97.6951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160520"/>
            <a:ext cx="7086600" cy="438912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6615" y="4251959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4251959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98DB"/>
                </a:solidFill>
                <a:latin typeface="Calibri"/>
              </a:rPr>
              <a:t>Austin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91056" y="4251959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0.730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76856" y="4251959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Residential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11296" y="4251959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10.9 km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34256" y="4251959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$118k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31536" y="4251959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30.1786, -97.6941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4626864"/>
            <a:ext cx="7086600" cy="438912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6615" y="4718304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" y="471830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98DB"/>
                </a:solidFill>
                <a:latin typeface="Calibri"/>
              </a:rPr>
              <a:t>Austin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91056" y="4718304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0.729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76856" y="4718304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Industrial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11296" y="471830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10.5 km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34256" y="4718304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$129k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31536" y="4718304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30.3267, -97.6575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093208"/>
            <a:ext cx="7086600" cy="438912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6615" y="5184648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6656" y="518464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98DB"/>
                </a:solidFill>
                <a:latin typeface="Calibri"/>
              </a:rPr>
              <a:t>Austin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91056" y="5184648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0.729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76856" y="5184648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Residential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11296" y="518464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10.3 km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34256" y="5184648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$147k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31536" y="5184648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30.3414, -97.6789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5559552"/>
            <a:ext cx="7086600" cy="438912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6615" y="5650992"/>
            <a:ext cx="246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6656" y="565099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498DB"/>
                </a:solidFill>
                <a:latin typeface="Calibri"/>
              </a:rPr>
              <a:t>Austin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91056" y="565099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0.729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76856" y="5650992"/>
            <a:ext cx="1161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Residential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11296" y="5650992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8.8 km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34256" y="5650992"/>
            <a:ext cx="1024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$200k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31536" y="5650992"/>
            <a:ext cx="1892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30.3109, -97.6667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040" y="6172200"/>
            <a:ext cx="7086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Ranked by AI opportunity score (Tier-1 = top 10% of all H3 cells). Due diligence required before any acquisition.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35240" y="960120"/>
            <a:ext cx="4251960" cy="5577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18120" y="105156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Next Steps for Each Lot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635240" y="1536192"/>
            <a:ext cx="425196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7726679" y="1627632"/>
            <a:ext cx="4069080" cy="11430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26679" y="1627632"/>
            <a:ext cx="54864" cy="1143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82127" y="1691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C63FF"/>
                </a:solidFill>
                <a:latin typeface="Calibri"/>
              </a:rPr>
              <a:t>Week 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82127" y="1993392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• Pull parcel records from county assessor
• Confirm zoning classification + entitlement path
• Check for active permits or liens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726679" y="2852928"/>
            <a:ext cx="4069080" cy="11430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726679" y="2852928"/>
            <a:ext cx="54864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882127" y="29169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Calibri"/>
              </a:rPr>
              <a:t>Week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82127" y="3218688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• Order Phase I Environmental Site Assessment
• Get 2 GC preliminary estimates
• Calculate both BTS and BTR pro formas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26679" y="4078224"/>
            <a:ext cx="4069080" cy="11430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726679" y="4078224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882127" y="41422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Week 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82127" y="4443984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• Confirm utility stub availability (water/sewer)
• Contact land broker / owner for off-market terms
• Submit LOI if underwriting clears thresholds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726679" y="5303520"/>
            <a:ext cx="4069080" cy="11430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726679" y="530352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882127" y="53675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Week 4+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882127" y="5669280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• Execute PSA with 60-day feasibility period
• Commission ALTA survey + geotechnical report
• Structure LP/GP terms, engage construction lender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Returns Summary — All Strategies vs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Risk-adjusted comparison across strategies, validated against public market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6858000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005840"/>
            <a:ext cx="4480560" cy="5577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0789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Risk-Adjusted Comparison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1508760"/>
            <a:ext cx="4480560" cy="0"/>
          </a:xfrm>
          <a:prstGeom prst="line">
            <a:avLst/>
          </a:prstGeom>
          <a:ln w="9525">
            <a:solidFill>
              <a:srgbClr val="2D3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406640" y="1572768"/>
            <a:ext cx="4480560" cy="429768"/>
          </a:xfrm>
          <a:prstGeom prst="rect">
            <a:avLst/>
          </a:prstGeom>
          <a:solidFill>
            <a:srgbClr val="14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16459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16459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IRR/CAGR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5872" y="16459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Liquidity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164592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Leverage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002536"/>
            <a:ext cx="4480560" cy="429768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20756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SPY Buy-Hold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20756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  <a:latin typeface="Calibri"/>
              </a:rPr>
              <a:t>12.2%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5872" y="207568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Daily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2075688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None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432304"/>
            <a:ext cx="4480560" cy="429768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2505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60/40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50545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  <a:latin typeface="Calibri"/>
              </a:rPr>
              <a:t>7.5%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5872" y="250545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Daily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250545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None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862072"/>
            <a:ext cx="4480560" cy="429768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8" y="29352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Land Hold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93522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  <a:latin typeface="Calibri"/>
              </a:rPr>
              <a:t>6.5%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5872" y="293522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2935224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None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3291839"/>
            <a:ext cx="4480560" cy="429768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16368" y="3364991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Build-to-Rent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364991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17%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5872" y="3364991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7+ yrs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3364991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65% LTV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721607"/>
            <a:ext cx="4480560" cy="429768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379475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Build-to-Sell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794759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11%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3794759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~2 yrs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3794759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65% LTV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151375"/>
            <a:ext cx="4480560" cy="429768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8" y="4224527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Hybrid (rec.)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4224527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14%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05872" y="4224527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2-7 yrs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4224527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65% LTV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581143"/>
            <a:ext cx="4480560" cy="429768"/>
          </a:xfrm>
          <a:prstGeom prst="rect">
            <a:avLst/>
          </a:prstGeom>
          <a:solidFill>
            <a:srgbClr val="22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16368" y="4654295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Portfolio CAGR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4654295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12.8%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05872" y="4654295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Rolling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4654295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65% LTV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63276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RE returns are private, illiquid, and levered. SPY returns include 2020-2021 exceptional bull run.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THE OPPORTUNITY IN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  <a:latin typeface="Calibri"/>
              </a:rPr>
              <a:t>Urban Growth AI — Corporate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An AI-driven, institutional-quality process for ground-up development in the highest-growth US markets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2267712"/>
            <a:ext cx="11247120" cy="0"/>
          </a:xfrm>
          <a:prstGeom prst="line">
            <a:avLst/>
          </a:prstGeom>
          <a:ln w="95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2423160"/>
            <a:ext cx="3611880" cy="22860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3611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AI-Identified 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H3 hex model scores 1,000s of parcels. Top 10% Tier-1 lots pre-validated for growth potential, zoning, and fundamentals.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423160"/>
            <a:ext cx="3611880" cy="22860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423160"/>
            <a:ext cx="3611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4203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Proven 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19%+ levered IRR, 2.5× equity multiple. Validated against CoStar, CBRE, Turner &amp; Townsend 2024-2025 market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423160"/>
            <a:ext cx="3611880" cy="22860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423160"/>
            <a:ext cx="36118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54203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libri"/>
              </a:rPr>
              <a:t>Flexible Exit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0175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Build-to-Sell for capital velocity (22-month cycle). Build-to-Rent for income. Hybrid recommended for optimal portfolio.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1. Select 3–5 Tier-1 lots for immediate due diligence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509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2. Engage GC for preliminary budget on top 2 sites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9846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3. Structure LP/GP fund vehicle for capital raise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303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4. Secure construction lending relationship (65% LTV)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6509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5. Target: first land close within 90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92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$29.7M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37667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10-yr Portfolio NAV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272" y="4892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14.3%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537667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Median BTR IRR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21824" y="4892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2.1×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537667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Equity Multiple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9376" y="48920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11.5%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9376" y="537667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CAGR vs 12.2% SPY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Calibri"/>
              </a:rPr>
              <a:t>For discussion purposes only. Not investment advice. Past model performance does not guarantee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